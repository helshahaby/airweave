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59" y="1463040"/>
            <a:ext cx="4206240" cy="4206240"/>
          </a:xfrm>
          <a:prstGeom prst="ellipse">
            <a:avLst/>
          </a:prstGeom>
          <a:noFill/>
          <a:ln w="12700"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5019" y="1943100"/>
            <a:ext cx="3246120" cy="3246120"/>
          </a:xfrm>
          <a:prstGeom prst="ellipse">
            <a:avLst/>
          </a:prstGeom>
          <a:noFill/>
          <a:ln w="12700"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5079" y="2423160"/>
            <a:ext cx="2286000" cy="2286000"/>
          </a:xfrm>
          <a:prstGeom prst="ellipse">
            <a:avLst/>
          </a:prstGeom>
          <a:noFill/>
          <a:ln w="12700"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35140" y="2903220"/>
            <a:ext cx="1325880" cy="1325880"/>
          </a:xfrm>
          <a:prstGeom prst="ellipse">
            <a:avLst/>
          </a:prstGeom>
          <a:noFill/>
          <a:ln w="12700"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394960" y="3566160"/>
            <a:ext cx="4206240" cy="0"/>
          </a:xfrm>
          <a:prstGeom prst="line">
            <a:avLst/>
          </a:prstGeom>
          <a:ln w="1270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98079" y="1463040"/>
            <a:ext cx="0" cy="4206240"/>
          </a:xfrm>
          <a:prstGeom prst="line">
            <a:avLst/>
          </a:prstGeom>
          <a:ln w="1270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524244" y="2820924"/>
            <a:ext cx="118872" cy="118872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19088" y="2715768"/>
            <a:ext cx="329184" cy="329184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61604" y="4146803"/>
            <a:ext cx="118872" cy="118872"/>
          </a:xfrm>
          <a:prstGeom prst="ellipse">
            <a:avLst/>
          </a:prstGeom>
          <a:solidFill>
            <a:srgbClr val="68EFBF"/>
          </a:solidFill>
          <a:ln>
            <a:solidFill>
              <a:srgbClr val="68E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56448" y="4041648"/>
            <a:ext cx="329184" cy="329184"/>
          </a:xfrm>
          <a:prstGeom prst="ellipse">
            <a:avLst/>
          </a:prstGeom>
          <a:solidFill>
            <a:srgbClr val="68EFBF"/>
          </a:solidFill>
          <a:ln>
            <a:solidFill>
              <a:srgbClr val="68E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78724" y="2409444"/>
            <a:ext cx="118872" cy="118872"/>
          </a:xfrm>
          <a:prstGeom prst="ellipse">
            <a:avLst/>
          </a:prstGeom>
          <a:solidFill>
            <a:srgbClr val="FFB55C"/>
          </a:solidFill>
          <a:ln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73568" y="2304288"/>
            <a:ext cx="329184" cy="329184"/>
          </a:xfrm>
          <a:prstGeom prst="ellipse">
            <a:avLst/>
          </a:prstGeom>
          <a:solidFill>
            <a:srgbClr val="FFB55C"/>
          </a:solidFill>
          <a:ln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2844" y="4192524"/>
            <a:ext cx="118872" cy="118872"/>
          </a:xfrm>
          <a:prstGeom prst="ellipse">
            <a:avLst/>
          </a:prstGeom>
          <a:solidFill>
            <a:srgbClr val="5A91FF"/>
          </a:solidFill>
          <a:ln>
            <a:solidFill>
              <a:srgbClr val="5A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47688" y="4087368"/>
            <a:ext cx="329184" cy="329184"/>
          </a:xfrm>
          <a:prstGeom prst="ellipse">
            <a:avLst/>
          </a:prstGeom>
          <a:solidFill>
            <a:srgbClr val="5A91FF"/>
          </a:solidFill>
          <a:ln>
            <a:solidFill>
              <a:srgbClr val="5A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8368"/>
            <a:ext cx="36576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ADAE6"/>
                </a:solidFill>
                <a:latin typeface="Aptos"/>
              </a:rPr>
              <a:t>AIRWEAVE  /  PROJECT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417320"/>
            <a:ext cx="5669280" cy="1325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F0F7FF"/>
                </a:solidFill>
                <a:latin typeface="Aptos"/>
              </a:rPr>
              <a:t>The Air Picture
That Knows When It’s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063240"/>
            <a:ext cx="512064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A4B7CD"/>
                </a:solidFill>
                <a:latin typeface="Aptos"/>
              </a:rPr>
              <a:t>Uncertainty-aware shared situational awareness from imperfect sensors.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160520"/>
            <a:ext cx="2880360" cy="530352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288536"/>
            <a:ext cx="25146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68EFBF"/>
                </a:solidFill>
                <a:latin typeface="Aptos"/>
              </a:rPr>
              <a:t>PRESENTED BY  HOSSAM ELSHAHABY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80760"/>
            <a:ext cx="43891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ONE SHARED PICTURE. MULTIPLE IMPERFECT SENSORS.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A4B7CD"/>
                </a:solidFill>
                <a:latin typeface="Aptos"/>
              </a:rPr>
              <a:t>01 /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" dur="500"/>
                              <p:tgtEl>
                                <p:spTgt spid="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" dur="500"/>
                              <p:tgtEl>
                                <p:spTgt spid="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" dur="500"/>
                              <p:tgtEl>
                                <p:spTgt spid="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4" dur="500"/>
                              <p:tgtEl>
                                <p:spTgt spid="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7" dur="500"/>
                              <p:tgtEl>
                                <p:spTgt spid="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0" dur="500"/>
                              <p:tgtEl>
                                <p:spTgt spid="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3" dur="500"/>
                              <p:tgtEl>
                                <p:spTgt spid="1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6" dur="500"/>
                              <p:tgtEl>
                                <p:spTgt spid="1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9" dur="500"/>
                              <p:tgtEl>
                                <p:spTgt spid="1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2" dur="500"/>
                              <p:tgtEl>
                                <p:spTgt spid="1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5" dur="500"/>
                              <p:tgtEl>
                                <p:spTgt spid="1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8" dur="500"/>
                              <p:tgtEl>
                                <p:spTgt spid="1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1" dur="500"/>
                              <p:tgtEl>
                                <p:spTgt spid="1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4" dur="500"/>
                              <p:tgtEl>
                                <p:spTgt spid="1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7" dur="500"/>
                              <p:tgtEl>
                                <p:spTgt spid="1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0" dur="500"/>
                              <p:tgtEl>
                                <p:spTgt spid="1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3" dur="500"/>
                              <p:tgtEl>
                                <p:spTgt spid="2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6" dur="500"/>
                              <p:tgtEl>
                                <p:spTgt spid="2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9" dur="500"/>
                              <p:tgtEl>
                                <p:spTgt spid="2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ADAE6"/>
                </a:solidFill>
                <a:latin typeface="Aptos"/>
              </a:rPr>
              <a:t>AIRWEAVE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A4B7CD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When every sensor is only partly right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44752"/>
            <a:ext cx="11155680" cy="0"/>
          </a:xfrm>
          <a:prstGeom prst="line">
            <a:avLst/>
          </a:prstGeom>
          <a:ln w="1270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1691640"/>
            <a:ext cx="49377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0F7FF"/>
                </a:solidFill>
                <a:latin typeface="Aptos"/>
              </a:rPr>
              <a:t>A shared picture can fail quietly.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4663440" cy="10515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A4B7CD"/>
                </a:solidFill>
                <a:latin typeface="Aptos"/>
              </a:rPr>
              <a:t>Low-cost sensors report at different times, with noisy positions, clock offsets and missing messages. A dashboard can look confident even when its underlying evidence is stale or contradictory.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66160"/>
            <a:ext cx="4754880" cy="448056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675887"/>
            <a:ext cx="3200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639312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0F7FF"/>
                </a:solidFill>
                <a:latin typeface="Aptos"/>
              </a:rPr>
              <a:t>NOISY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639312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4B7CD"/>
                </a:solidFill>
                <a:latin typeface="Aptos"/>
              </a:rPr>
              <a:t>Measurements disagree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42232"/>
            <a:ext cx="4754880" cy="448056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251960"/>
            <a:ext cx="3200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215384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0F7FF"/>
                </a:solidFill>
                <a:latin typeface="Aptos"/>
              </a:rPr>
              <a:t>CLOCK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215384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4B7CD"/>
                </a:solidFill>
                <a:latin typeface="Aptos"/>
              </a:rPr>
              <a:t>Reports arrive out of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18304"/>
            <a:ext cx="4754880" cy="448056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828032"/>
            <a:ext cx="3200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4791456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0F7FF"/>
                </a:solidFill>
                <a:latin typeface="Aptos"/>
              </a:rPr>
              <a:t>LINK DEGRADATION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791456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4B7CD"/>
                </a:solidFill>
                <a:latin typeface="Aptos"/>
              </a:rPr>
              <a:t>Packets disappear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94376"/>
            <a:ext cx="4754880" cy="448056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404104"/>
            <a:ext cx="3200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367528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0F7FF"/>
                </a:solidFill>
                <a:latin typeface="Aptos"/>
              </a:rPr>
              <a:t>IDENTITY CONFUSION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367528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4B7CD"/>
                </a:solidFill>
                <a:latin typeface="Aptos"/>
              </a:rPr>
              <a:t>Tracks split or swap IDs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1755648"/>
            <a:ext cx="5669280" cy="434340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011680"/>
            <a:ext cx="42976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ADAE6"/>
                </a:solidFill>
                <a:latin typeface="Aptos"/>
              </a:rPr>
              <a:t>THREE SOURCES • THREE STORIES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9360" y="2606040"/>
            <a:ext cx="0" cy="301752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2606040"/>
            <a:ext cx="0" cy="301752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1040" y="2606040"/>
            <a:ext cx="0" cy="301752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6880" y="2606040"/>
            <a:ext cx="0" cy="301752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332720" y="2606040"/>
            <a:ext cx="0" cy="301752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9360" y="2651760"/>
            <a:ext cx="4114800" cy="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" y="3474720"/>
            <a:ext cx="4114800" cy="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09360" y="4297680"/>
            <a:ext cx="4114800" cy="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09360" y="5120640"/>
            <a:ext cx="4114800" cy="0"/>
          </a:xfrm>
          <a:prstGeom prst="line">
            <a:avLst/>
          </a:prstGeom>
          <a:ln w="889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072883" y="3598164"/>
            <a:ext cx="118872" cy="118872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76288" y="3401568"/>
            <a:ext cx="512064" cy="512064"/>
          </a:xfrm>
          <a:prstGeom prst="ellipse">
            <a:avLst/>
          </a:prstGeom>
          <a:noFill/>
          <a:ln w="12700"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95844" y="3963924"/>
            <a:ext cx="118872" cy="118872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99248" y="3767328"/>
            <a:ext cx="512064" cy="512064"/>
          </a:xfrm>
          <a:prstGeom prst="ellipse">
            <a:avLst/>
          </a:prstGeom>
          <a:noFill/>
          <a:ln w="12700"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92924" y="3186684"/>
            <a:ext cx="118872" cy="118872"/>
          </a:xfrm>
          <a:prstGeom prst="ellipse">
            <a:avLst/>
          </a:prstGeom>
          <a:solidFill>
            <a:srgbClr val="FFB55C"/>
          </a:solidFill>
          <a:ln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96328" y="2990087"/>
            <a:ext cx="512064" cy="512064"/>
          </a:xfrm>
          <a:prstGeom prst="ellipse">
            <a:avLst/>
          </a:prstGeom>
          <a:noFill/>
          <a:ln w="12700"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35924" y="4329683"/>
            <a:ext cx="118872" cy="118872"/>
          </a:xfrm>
          <a:prstGeom prst="ellipse">
            <a:avLst/>
          </a:prstGeom>
          <a:solidFill>
            <a:srgbClr val="FFB55C"/>
          </a:solidFill>
          <a:ln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39328" y="4133087"/>
            <a:ext cx="512064" cy="512064"/>
          </a:xfrm>
          <a:prstGeom prst="ellipse">
            <a:avLst/>
          </a:prstGeom>
          <a:noFill/>
          <a:ln w="12700"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58884" y="3415284"/>
            <a:ext cx="118872" cy="118872"/>
          </a:xfrm>
          <a:prstGeom prst="ellipse">
            <a:avLst/>
          </a:prstGeom>
          <a:solidFill>
            <a:srgbClr val="FF6E7D"/>
          </a:solidFill>
          <a:ln>
            <a:solidFill>
              <a:srgbClr val="F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62288" y="3218687"/>
            <a:ext cx="512064" cy="512064"/>
          </a:xfrm>
          <a:prstGeom prst="ellipse">
            <a:avLst/>
          </a:prstGeom>
          <a:noFill/>
          <a:ln w="12700">
            <a:solidFill>
              <a:srgbClr val="F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55964" y="4786883"/>
            <a:ext cx="118872" cy="118872"/>
          </a:xfrm>
          <a:prstGeom prst="ellipse">
            <a:avLst/>
          </a:prstGeom>
          <a:solidFill>
            <a:srgbClr val="FF6E7D"/>
          </a:solidFill>
          <a:ln>
            <a:solidFill>
              <a:srgbClr val="F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59368" y="4590288"/>
            <a:ext cx="512064" cy="512064"/>
          </a:xfrm>
          <a:prstGeom prst="ellipse">
            <a:avLst/>
          </a:prstGeom>
          <a:noFill/>
          <a:ln w="12700">
            <a:solidFill>
              <a:srgbClr val="F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5715000"/>
            <a:ext cx="47548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4B7CD"/>
                </a:solidFill>
                <a:latin typeface="Aptos"/>
              </a:rPr>
              <a:t>Illustrative synthetic observations — no ground truth shown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9672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A4B7CD"/>
                </a:solidFill>
                <a:latin typeface="Aptos"/>
              </a:rPr>
              <a:t>SYNTHETIC-DATA RESEARCH DEMONSTRATOR  •  NOT A LIVE SENSOR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473952"/>
            <a:ext cx="5943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A4B7CD"/>
                </a:solidFill>
                <a:latin typeface="Aptos"/>
              </a:rPr>
              <a:t>02 /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" dur="500"/>
                              <p:tgtEl>
                                <p:spTgt spid="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" dur="500"/>
                              <p:tgtEl>
                                <p:spTgt spid="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" dur="500"/>
                              <p:tgtEl>
                                <p:spTgt spid="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4" dur="500"/>
                              <p:tgtEl>
                                <p:spTgt spid="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7" dur="500"/>
                              <p:tgtEl>
                                <p:spTgt spid="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0" dur="500"/>
                              <p:tgtEl>
                                <p:spTgt spid="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3" dur="500"/>
                              <p:tgtEl>
                                <p:spTgt spid="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6" dur="500"/>
                              <p:tgtEl>
                                <p:spTgt spid="1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9" dur="500"/>
                              <p:tgtEl>
                                <p:spTgt spid="1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2" dur="500"/>
                              <p:tgtEl>
                                <p:spTgt spid="1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5" dur="500"/>
                              <p:tgtEl>
                                <p:spTgt spid="1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8" dur="500"/>
                              <p:tgtEl>
                                <p:spTgt spid="1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1" dur="500"/>
                              <p:tgtEl>
                                <p:spTgt spid="1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4" dur="500"/>
                              <p:tgtEl>
                                <p:spTgt spid="1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7" dur="500"/>
                              <p:tgtEl>
                                <p:spTgt spid="1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0" dur="500"/>
                              <p:tgtEl>
                                <p:spTgt spid="1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3" dur="500"/>
                              <p:tgtEl>
                                <p:spTgt spid="1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6" dur="500"/>
                              <p:tgtEl>
                                <p:spTgt spid="2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9" dur="500"/>
                              <p:tgtEl>
                                <p:spTgt spid="2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2" dur="500"/>
                              <p:tgtEl>
                                <p:spTgt spid="2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5" dur="500"/>
                              <p:tgtEl>
                                <p:spTgt spid="2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8" dur="500"/>
                              <p:tgtEl>
                                <p:spTgt spid="2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1" dur="500"/>
                              <p:tgtEl>
                                <p:spTgt spid="2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4" dur="500"/>
                              <p:tgtEl>
                                <p:spTgt spid="3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7" dur="500"/>
                              <p:tgtEl>
                                <p:spTgt spid="3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0" dur="500"/>
                              <p:tgtEl>
                                <p:spTgt spid="3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3" dur="500"/>
                              <p:tgtEl>
                                <p:spTgt spid="3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6" dur="500"/>
                              <p:tgtEl>
                                <p:spTgt spid="3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9" dur="500"/>
                              <p:tgtEl>
                                <p:spTgt spid="4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2" dur="500"/>
                              <p:tgtEl>
                                <p:spTgt spid="4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5" dur="500"/>
                              <p:tgtEl>
                                <p:spTgt spid="4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8" dur="500"/>
                              <p:tgtEl>
                                <p:spTgt spid="4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01" dur="500"/>
                              <p:tgtEl>
                                <p:spTgt spid="4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0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04" dur="500"/>
                              <p:tgtEl>
                                <p:spTgt spid="4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0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07" dur="500"/>
                              <p:tgtEl>
                                <p:spTgt spid="4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0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0" dur="500"/>
                              <p:tgtEl>
                                <p:spTgt spid="4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1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1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3" dur="500"/>
                              <p:tgtEl>
                                <p:spTgt spid="4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1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1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6" dur="500"/>
                              <p:tgtEl>
                                <p:spTgt spid="4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ADAE6"/>
                </a:solidFill>
                <a:latin typeface="Aptos"/>
              </a:rPr>
              <a:t>AIRWEAVE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A4B7CD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Fuse the evidence. Expose the uncertainty.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44752"/>
            <a:ext cx="11155680" cy="0"/>
          </a:xfrm>
          <a:prstGeom prst="line">
            <a:avLst/>
          </a:prstGeom>
          <a:ln w="1270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4924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029967"/>
            <a:ext cx="384048" cy="384048"/>
          </a:xfrm>
          <a:prstGeom prst="ellipse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130552"/>
            <a:ext cx="274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75688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0F7FF"/>
                </a:solidFill>
                <a:latin typeface="Aptos"/>
              </a:rPr>
              <a:t>TIME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42032"/>
            <a:ext cx="41605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4B7CD"/>
                </a:solidFill>
                <a:latin typeface="Aptos"/>
              </a:rPr>
              <a:t>Handle asynchronous and stale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2029967"/>
            <a:ext cx="384048" cy="384048"/>
          </a:xfrm>
          <a:prstGeom prst="ellipse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2130552"/>
            <a:ext cx="274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075688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0F7FF"/>
                </a:solidFill>
                <a:latin typeface="Aptos"/>
              </a:rPr>
              <a:t>ROBUST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542032"/>
            <a:ext cx="41605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4B7CD"/>
                </a:solidFill>
                <a:latin typeface="Aptos"/>
              </a:rPr>
              <a:t>Estimate position and velocity with uncertainty.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94760"/>
            <a:ext cx="534924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4041648"/>
            <a:ext cx="384048" cy="384048"/>
          </a:xfrm>
          <a:prstGeom prst="ellipse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4142232"/>
            <a:ext cx="274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87368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0F7FF"/>
                </a:solidFill>
                <a:latin typeface="Aptos"/>
              </a:rPr>
              <a:t>IDENTITY CONTINUITY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53712"/>
            <a:ext cx="41605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4B7CD"/>
                </a:solidFill>
                <a:latin typeface="Aptos"/>
              </a:rPr>
              <a:t>Flag ambiguous associations instead of hiding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34924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4142232"/>
            <a:ext cx="274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087368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0F7FF"/>
                </a:solidFill>
                <a:latin typeface="Aptos"/>
              </a:rPr>
              <a:t>DEGRADATION AWARENESS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553712"/>
            <a:ext cx="41605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4B7CD"/>
                </a:solidFill>
                <a:latin typeface="Aptos"/>
              </a:rPr>
              <a:t>Show sensor health, packet loss and track 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8813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68EFBF"/>
                </a:solidFill>
                <a:latin typeface="Aptos"/>
              </a:rPr>
              <a:t>DESIGN PRINCIPLE: the system must say “uncertain” when the evidence is uncertain.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A4B7CD"/>
                </a:solidFill>
                <a:latin typeface="Aptos"/>
              </a:rPr>
              <a:t>SYNTHETIC-DATA RESEARCH DEMONSTRATOR  •  NOT A LIVE SENSOR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943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A4B7CD"/>
                </a:solidFill>
                <a:latin typeface="Aptos"/>
              </a:rPr>
              <a:t>03 /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" dur="500"/>
                              <p:tgtEl>
                                <p:spTgt spid="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" dur="500"/>
                              <p:tgtEl>
                                <p:spTgt spid="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" dur="500"/>
                              <p:tgtEl>
                                <p:spTgt spid="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4" dur="500"/>
                              <p:tgtEl>
                                <p:spTgt spid="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7" dur="500"/>
                              <p:tgtEl>
                                <p:spTgt spid="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0" dur="500"/>
                              <p:tgtEl>
                                <p:spTgt spid="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3" dur="500"/>
                              <p:tgtEl>
                                <p:spTgt spid="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6" dur="500"/>
                              <p:tgtEl>
                                <p:spTgt spid="1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9" dur="500"/>
                              <p:tgtEl>
                                <p:spTgt spid="1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2" dur="500"/>
                              <p:tgtEl>
                                <p:spTgt spid="1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5" dur="500"/>
                              <p:tgtEl>
                                <p:spTgt spid="1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8" dur="500"/>
                              <p:tgtEl>
                                <p:spTgt spid="1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1" dur="500"/>
                              <p:tgtEl>
                                <p:spTgt spid="1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4" dur="500"/>
                              <p:tgtEl>
                                <p:spTgt spid="1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7" dur="500"/>
                              <p:tgtEl>
                                <p:spTgt spid="1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0" dur="500"/>
                              <p:tgtEl>
                                <p:spTgt spid="1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3" dur="500"/>
                              <p:tgtEl>
                                <p:spTgt spid="1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6" dur="500"/>
                              <p:tgtEl>
                                <p:spTgt spid="2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9" dur="500"/>
                              <p:tgtEl>
                                <p:spTgt spid="2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2" dur="500"/>
                              <p:tgtEl>
                                <p:spTgt spid="2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5" dur="500"/>
                              <p:tgtEl>
                                <p:spTgt spid="2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8" dur="500"/>
                              <p:tgtEl>
                                <p:spTgt spid="2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1" dur="500"/>
                              <p:tgtEl>
                                <p:spTgt spid="2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4" dur="500"/>
                              <p:tgtEl>
                                <p:spTgt spid="2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7" dur="500"/>
                              <p:tgtEl>
                                <p:spTgt spid="2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0" dur="500"/>
                              <p:tgtEl>
                                <p:spTgt spid="2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ADAE6"/>
                </a:solidFill>
                <a:latin typeface="Aptos"/>
              </a:rPr>
              <a:t>AIRWEAVE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A4B7CD"/>
                </a:solidFill>
                <a:latin typeface="Aptos"/>
              </a:rPr>
              <a:t>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Make degraded data visible before it misleads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44752"/>
            <a:ext cx="11155680" cy="0"/>
          </a:xfrm>
          <a:prstGeom prst="line">
            <a:avLst/>
          </a:prstGeom>
          <a:ln w="1270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1737360"/>
            <a:ext cx="466344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"/>
              </a:rPr>
              <a:t>From raw signals to accountable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95728"/>
            <a:ext cx="5074920" cy="603504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05456"/>
            <a:ext cx="1691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OPERATORS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96312"/>
            <a:ext cx="2926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F0F7FF"/>
                </a:solidFill>
                <a:latin typeface="Aptos"/>
              </a:rPr>
              <a:t>See what is known, what is stale, and what is ambiguous.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45536"/>
            <a:ext cx="5074920" cy="603504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255264"/>
            <a:ext cx="1691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ENGINEERING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46120"/>
            <a:ext cx="2926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F0F7FF"/>
                </a:solidFill>
                <a:latin typeface="Aptos"/>
              </a:rPr>
              <a:t>Reproduce failures with repeatable fault-injection scenarios.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95344"/>
            <a:ext cx="5074920" cy="603504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05072"/>
            <a:ext cx="1691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SYSTEM INTEGRATORS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995928"/>
            <a:ext cx="2926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F0F7FF"/>
                </a:solidFill>
                <a:latin typeface="Aptos"/>
              </a:rPr>
              <a:t>Compare sensor configurations using consistent metrics.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45152"/>
            <a:ext cx="5074920" cy="603504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754880"/>
            <a:ext cx="1691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ADAE6"/>
                </a:solidFill>
                <a:latin typeface="Aptos"/>
              </a:rPr>
              <a:t>SAFETY &amp;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745736"/>
            <a:ext cx="2926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F0F7FF"/>
                </a:solidFill>
                <a:latin typeface="Aptos"/>
              </a:rPr>
              <a:t>Keep uncertainty, provenance and limitations visible.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783080"/>
            <a:ext cx="5532120" cy="448056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057400"/>
            <a:ext cx="44805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ADAE6"/>
                </a:solidFill>
                <a:latin typeface="Aptos"/>
              </a:rPr>
              <a:t>HOW THE VALUE IS CREATED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06040"/>
            <a:ext cx="4480560" cy="521207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10058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8EFBF"/>
                </a:solidFill>
                <a:latin typeface="Aptos"/>
              </a:rP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724912"/>
            <a:ext cx="2834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0F7FF"/>
                </a:solidFill>
                <a:latin typeface="Aptos"/>
              </a:rPr>
              <a:t>Collect imperfect reports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1080" y="3136392"/>
            <a:ext cx="0" cy="201168"/>
          </a:xfrm>
          <a:prstGeom prst="line">
            <a:avLst/>
          </a:prstGeom>
          <a:ln w="1651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3355848"/>
            <a:ext cx="4480560" cy="521207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493008"/>
            <a:ext cx="10058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8EFBF"/>
                </a:solidFill>
                <a:latin typeface="Aptos"/>
              </a:rPr>
              <a:t>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474720"/>
            <a:ext cx="2834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0F7FF"/>
                </a:solidFill>
                <a:latin typeface="Aptos"/>
              </a:rPr>
              <a:t>Check timing and sensor health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3886200"/>
            <a:ext cx="0" cy="201168"/>
          </a:xfrm>
          <a:prstGeom prst="line">
            <a:avLst/>
          </a:prstGeom>
          <a:ln w="1651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0" y="4105656"/>
            <a:ext cx="4480560" cy="521207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42816"/>
            <a:ext cx="10058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8EFBF"/>
                </a:solidFill>
                <a:latin typeface="Aptos"/>
              </a:rPr>
              <a:t>FUSE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224528"/>
            <a:ext cx="2834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0F7FF"/>
                </a:solidFill>
                <a:latin typeface="Aptos"/>
              </a:rPr>
              <a:t>Estimate state + uncertainty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636008"/>
            <a:ext cx="0" cy="201168"/>
          </a:xfrm>
          <a:prstGeom prst="line">
            <a:avLst/>
          </a:prstGeom>
          <a:ln w="1651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00800" y="4855464"/>
            <a:ext cx="4480560" cy="521207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992624"/>
            <a:ext cx="10058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8EFBF"/>
                </a:solidFill>
                <a:latin typeface="Aptos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974336"/>
            <a:ext cx="2834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0F7FF"/>
                </a:solidFill>
                <a:latin typeface="Aptos"/>
              </a:rPr>
              <a:t>Show evidence and degradation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760720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4B7CD"/>
                </a:solidFill>
                <a:latin typeface="Aptos"/>
              </a:rPr>
              <a:t>Potential uses: research, test ranges, robotics and sensor-system validation.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A4B7CD"/>
                </a:solidFill>
                <a:latin typeface="Aptos"/>
              </a:rPr>
              <a:t>SYNTHETIC-DATA RESEARCH DEMONSTRATOR  •  NOT A LIVE SENSOR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943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A4B7CD"/>
                </a:solidFill>
                <a:latin typeface="Aptos"/>
              </a:rPr>
              <a:t>04 /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" dur="500"/>
                              <p:tgtEl>
                                <p:spTgt spid="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" dur="500"/>
                              <p:tgtEl>
                                <p:spTgt spid="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" dur="500"/>
                              <p:tgtEl>
                                <p:spTgt spid="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4" dur="500"/>
                              <p:tgtEl>
                                <p:spTgt spid="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7" dur="500"/>
                              <p:tgtEl>
                                <p:spTgt spid="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0" dur="500"/>
                              <p:tgtEl>
                                <p:spTgt spid="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3" dur="500"/>
                              <p:tgtEl>
                                <p:spTgt spid="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6" dur="500"/>
                              <p:tgtEl>
                                <p:spTgt spid="1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9" dur="500"/>
                              <p:tgtEl>
                                <p:spTgt spid="1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2" dur="500"/>
                              <p:tgtEl>
                                <p:spTgt spid="1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5" dur="500"/>
                              <p:tgtEl>
                                <p:spTgt spid="1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8" dur="500"/>
                              <p:tgtEl>
                                <p:spTgt spid="1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1" dur="500"/>
                              <p:tgtEl>
                                <p:spTgt spid="1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4" dur="500"/>
                              <p:tgtEl>
                                <p:spTgt spid="1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7" dur="500"/>
                              <p:tgtEl>
                                <p:spTgt spid="1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0" dur="500"/>
                              <p:tgtEl>
                                <p:spTgt spid="1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3" dur="500"/>
                              <p:tgtEl>
                                <p:spTgt spid="1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6" dur="500"/>
                              <p:tgtEl>
                                <p:spTgt spid="2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9" dur="500"/>
                              <p:tgtEl>
                                <p:spTgt spid="2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2" dur="500"/>
                              <p:tgtEl>
                                <p:spTgt spid="2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5" dur="500"/>
                              <p:tgtEl>
                                <p:spTgt spid="2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8" dur="500"/>
                              <p:tgtEl>
                                <p:spTgt spid="2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1" dur="500"/>
                              <p:tgtEl>
                                <p:spTgt spid="2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4" dur="500"/>
                              <p:tgtEl>
                                <p:spTgt spid="2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7" dur="500"/>
                              <p:tgtEl>
                                <p:spTgt spid="2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0" dur="500"/>
                              <p:tgtEl>
                                <p:spTgt spid="3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3" dur="500"/>
                              <p:tgtEl>
                                <p:spTgt spid="3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6" dur="500"/>
                              <p:tgtEl>
                                <p:spTgt spid="3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9" dur="500"/>
                              <p:tgtEl>
                                <p:spTgt spid="3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2" dur="500"/>
                              <p:tgtEl>
                                <p:spTgt spid="3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5" dur="500"/>
                              <p:tgtEl>
                                <p:spTgt spid="3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8" dur="500"/>
                              <p:tgtEl>
                                <p:spTgt spid="3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01" dur="500"/>
                              <p:tgtEl>
                                <p:spTgt spid="3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ADAE6"/>
                </a:solidFill>
                <a:latin typeface="Aptos"/>
              </a:rPr>
              <a:t>AIRWEAVE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A4B7CD"/>
                </a:solidFill>
                <a:latin typeface="Aptos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Demo: break the network, watch confidence respond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44752"/>
            <a:ext cx="11155680" cy="0"/>
          </a:xfrm>
          <a:prstGeom prst="line">
            <a:avLst/>
          </a:prstGeom>
          <a:ln w="1270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37360"/>
            <a:ext cx="2834640" cy="443484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1945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ADAE6"/>
                </a:solidFill>
                <a:latin typeface="Aptos"/>
              </a:rPr>
              <a:t>SCENARIO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331720" cy="457200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6334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0F7FF"/>
                </a:solidFill>
                <a:latin typeface="Aptos"/>
              </a:rPr>
              <a:t>Sensor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633472"/>
            <a:ext cx="10515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8EFBF"/>
                </a:solidFill>
                <a:latin typeface="Aptos"/>
              </a:rPr>
              <a:t>ONLINE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72968"/>
            <a:ext cx="2331720" cy="457200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291839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0F7FF"/>
                </a:solidFill>
                <a:latin typeface="Aptos"/>
              </a:rPr>
              <a:t>Sensor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91839"/>
            <a:ext cx="10515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FFB55C"/>
                </a:solidFill>
                <a:latin typeface="Aptos"/>
              </a:rPr>
              <a:t>DELAYED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31335"/>
            <a:ext cx="2331720" cy="457200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950207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0F7FF"/>
                </a:solidFill>
                <a:latin typeface="Aptos"/>
              </a:rPr>
              <a:t>Sensor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50207"/>
            <a:ext cx="10515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FF6E7D"/>
                </a:solidFill>
                <a:latin typeface="Aptos"/>
              </a:rPr>
              <a:t>PACKET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22402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8EFBF"/>
                </a:solidFill>
                <a:latin typeface="Aptos"/>
              </a:rPr>
              <a:t>CLICK-THROUGH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02352"/>
            <a:ext cx="22402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4B7CD"/>
                </a:solidFill>
                <a:latin typeface="Aptos"/>
              </a:rPr>
              <a:t>1. Normal
2. Add delay + packet loss
3. Disconnect a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1737360"/>
            <a:ext cx="7818120" cy="4434840"/>
          </a:xfrm>
          <a:prstGeom prst="round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2011680"/>
            <a:ext cx="38404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ADAE6"/>
                </a:solidFill>
                <a:latin typeface="Aptos"/>
              </a:rPr>
              <a:t>SHARED PICTURE  /  SYNTHETIC RUN 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2395728"/>
            <a:ext cx="1572768" cy="704088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87368" y="2514600"/>
            <a:ext cx="1371600" cy="1371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4B7CD"/>
                </a:solidFill>
                <a:latin typeface="Aptos"/>
              </a:rPr>
              <a:t>ACTIVE TRACKS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2734056"/>
            <a:ext cx="1371600" cy="2103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3ADAE6"/>
                </a:solidFill>
                <a:latin typeface="Aptos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395728"/>
            <a:ext cx="1572768" cy="704088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8" y="2514600"/>
            <a:ext cx="1371600" cy="1371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4B7CD"/>
                </a:solidFill>
                <a:latin typeface="Aptos"/>
              </a:rPr>
              <a:t>POSITION RMSE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2734056"/>
            <a:ext cx="1371600" cy="2103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8EFBF"/>
                </a:solidFill>
                <a:latin typeface="Aptos"/>
              </a:rPr>
              <a:t>2.8* 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395728"/>
            <a:ext cx="1572768" cy="704088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7" y="2514600"/>
            <a:ext cx="1371600" cy="1371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4B7CD"/>
                </a:solidFill>
                <a:latin typeface="Aptos"/>
              </a:rPr>
              <a:t>PACKET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7" y="2734056"/>
            <a:ext cx="1371600" cy="2103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B55C"/>
                </a:solidFill>
                <a:latin typeface="Aptos"/>
              </a:rPr>
              <a:t>18%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2395728"/>
            <a:ext cx="1572768" cy="704088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6607" y="2514600"/>
            <a:ext cx="1371600" cy="1371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4B7CD"/>
                </a:solidFill>
                <a:latin typeface="Aptos"/>
              </a:rPr>
              <a:t>TRACK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7" y="2734056"/>
            <a:ext cx="1371600" cy="2103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6E7D"/>
                </a:solidFill>
                <a:latin typeface="Aptos"/>
              </a:rPr>
              <a:t>DEGRADED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69080" y="3383280"/>
            <a:ext cx="0" cy="205740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93208" y="3383280"/>
            <a:ext cx="0" cy="205740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17336" y="3383280"/>
            <a:ext cx="0" cy="205740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41464" y="3383280"/>
            <a:ext cx="0" cy="205740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165592" y="3383280"/>
            <a:ext cx="0" cy="205740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189720" y="3383280"/>
            <a:ext cx="0" cy="205740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213848" y="3383280"/>
            <a:ext cx="0" cy="205740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69080" y="3383280"/>
            <a:ext cx="6629400" cy="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9080" y="4041648"/>
            <a:ext cx="6629400" cy="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700016"/>
            <a:ext cx="6629400" cy="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69080" y="5358384"/>
            <a:ext cx="6629400" cy="0"/>
          </a:xfrm>
          <a:prstGeom prst="line">
            <a:avLst/>
          </a:prstGeom>
          <a:ln w="7620">
            <a:solidFill>
              <a:srgbClr val="17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389120" y="4754880"/>
            <a:ext cx="731520" cy="274320"/>
          </a:xfrm>
          <a:prstGeom prst="line">
            <a:avLst/>
          </a:prstGeom>
          <a:ln w="2540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120640" y="4572000"/>
            <a:ext cx="731520" cy="182880"/>
          </a:xfrm>
          <a:prstGeom prst="line">
            <a:avLst/>
          </a:prstGeom>
          <a:ln w="2540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852160" y="4251960"/>
            <a:ext cx="731520" cy="320040"/>
          </a:xfrm>
          <a:prstGeom prst="line">
            <a:avLst/>
          </a:prstGeom>
          <a:ln w="2540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583680" y="4069080"/>
            <a:ext cx="731520" cy="182880"/>
          </a:xfrm>
          <a:prstGeom prst="line">
            <a:avLst/>
          </a:prstGeom>
          <a:ln w="2540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315200" y="3840480"/>
            <a:ext cx="731520" cy="228600"/>
          </a:xfrm>
          <a:prstGeom prst="line">
            <a:avLst/>
          </a:prstGeom>
          <a:ln w="2540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046720" y="3657600"/>
            <a:ext cx="731520" cy="182880"/>
          </a:xfrm>
          <a:prstGeom prst="line">
            <a:avLst/>
          </a:prstGeom>
          <a:ln w="25400">
            <a:solidFill>
              <a:srgbClr val="3A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343400" y="4983480"/>
            <a:ext cx="91440" cy="91440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06440" y="4526280"/>
            <a:ext cx="91440" cy="91440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269480" y="4023360"/>
            <a:ext cx="91440" cy="91440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32519" y="3611880"/>
            <a:ext cx="91440" cy="91440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4572000" y="3749039"/>
            <a:ext cx="731520" cy="137161"/>
          </a:xfrm>
          <a:prstGeom prst="line">
            <a:avLst/>
          </a:prstGeom>
          <a:ln w="25400">
            <a:solidFill>
              <a:srgbClr val="68E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3520" y="3886200"/>
            <a:ext cx="731520" cy="45720"/>
          </a:xfrm>
          <a:prstGeom prst="line">
            <a:avLst/>
          </a:prstGeom>
          <a:ln w="25400">
            <a:solidFill>
              <a:srgbClr val="68E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035040" y="3931920"/>
            <a:ext cx="731520" cy="228600"/>
          </a:xfrm>
          <a:prstGeom prst="line">
            <a:avLst/>
          </a:prstGeom>
          <a:ln w="25400">
            <a:solidFill>
              <a:srgbClr val="68E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66560" y="4160520"/>
            <a:ext cx="731519" cy="137160"/>
          </a:xfrm>
          <a:prstGeom prst="line">
            <a:avLst/>
          </a:prstGeom>
          <a:ln w="25400">
            <a:solidFill>
              <a:srgbClr val="68E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98079" y="4297680"/>
            <a:ext cx="731521" cy="137160"/>
          </a:xfrm>
          <a:prstGeom prst="line">
            <a:avLst/>
          </a:prstGeom>
          <a:ln w="25400">
            <a:solidFill>
              <a:srgbClr val="68E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29600" y="4434840"/>
            <a:ext cx="731520" cy="137160"/>
          </a:xfrm>
          <a:prstGeom prst="line">
            <a:avLst/>
          </a:prstGeom>
          <a:ln w="25400">
            <a:solidFill>
              <a:srgbClr val="68E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4526280" y="3703320"/>
            <a:ext cx="91440" cy="91440"/>
          </a:xfrm>
          <a:prstGeom prst="ellipse">
            <a:avLst/>
          </a:prstGeom>
          <a:solidFill>
            <a:srgbClr val="68EFBF"/>
          </a:solidFill>
          <a:ln>
            <a:solidFill>
              <a:srgbClr val="68E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989320" y="3886200"/>
            <a:ext cx="91440" cy="91440"/>
          </a:xfrm>
          <a:prstGeom prst="ellipse">
            <a:avLst/>
          </a:prstGeom>
          <a:solidFill>
            <a:srgbClr val="68EFBF"/>
          </a:solidFill>
          <a:ln>
            <a:solidFill>
              <a:srgbClr val="68E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452359" y="4251960"/>
            <a:ext cx="91440" cy="91440"/>
          </a:xfrm>
          <a:prstGeom prst="ellipse">
            <a:avLst/>
          </a:prstGeom>
          <a:solidFill>
            <a:srgbClr val="68EFBF"/>
          </a:solidFill>
          <a:ln>
            <a:solidFill>
              <a:srgbClr val="68E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915400" y="4526280"/>
            <a:ext cx="91440" cy="91440"/>
          </a:xfrm>
          <a:prstGeom prst="ellipse">
            <a:avLst/>
          </a:prstGeom>
          <a:solidFill>
            <a:srgbClr val="68EFBF"/>
          </a:solidFill>
          <a:ln>
            <a:solidFill>
              <a:srgbClr val="68E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0" y="5623560"/>
            <a:ext cx="70408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FFB55C"/>
                </a:solidFill>
                <a:latin typeface="Aptos"/>
              </a:rPr>
              <a:t>*Illustrative placeholder only — replace with measured benchmark output before presenting.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519672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A4B7CD"/>
                </a:solidFill>
                <a:latin typeface="Aptos"/>
              </a:rPr>
              <a:t>SYNTHETIC-DATA RESEARCH DEMONSTRATOR  •  NOT A LIVE SENSOR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6473952"/>
            <a:ext cx="5943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A4B7CD"/>
                </a:solidFill>
                <a:latin typeface="Aptos"/>
              </a:rPr>
              <a:t>05 /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" dur="500"/>
                              <p:tgtEl>
                                <p:spTgt spid="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" dur="500"/>
                              <p:tgtEl>
                                <p:spTgt spid="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" dur="500"/>
                              <p:tgtEl>
                                <p:spTgt spid="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4" dur="500"/>
                              <p:tgtEl>
                                <p:spTgt spid="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7" dur="500"/>
                              <p:tgtEl>
                                <p:spTgt spid="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0" dur="500"/>
                              <p:tgtEl>
                                <p:spTgt spid="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3" dur="500"/>
                              <p:tgtEl>
                                <p:spTgt spid="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6" dur="500"/>
                              <p:tgtEl>
                                <p:spTgt spid="1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9" dur="500"/>
                              <p:tgtEl>
                                <p:spTgt spid="1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2" dur="500"/>
                              <p:tgtEl>
                                <p:spTgt spid="1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5" dur="500"/>
                              <p:tgtEl>
                                <p:spTgt spid="1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8" dur="500"/>
                              <p:tgtEl>
                                <p:spTgt spid="1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1" dur="500"/>
                              <p:tgtEl>
                                <p:spTgt spid="1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4" dur="500"/>
                              <p:tgtEl>
                                <p:spTgt spid="1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7" dur="500"/>
                              <p:tgtEl>
                                <p:spTgt spid="1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0" dur="500"/>
                              <p:tgtEl>
                                <p:spTgt spid="1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3" dur="500"/>
                              <p:tgtEl>
                                <p:spTgt spid="1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6" dur="500"/>
                              <p:tgtEl>
                                <p:spTgt spid="2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5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5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9" dur="500"/>
                              <p:tgtEl>
                                <p:spTgt spid="2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2" dur="500"/>
                              <p:tgtEl>
                                <p:spTgt spid="2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5" dur="500"/>
                              <p:tgtEl>
                                <p:spTgt spid="2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6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68" dur="500"/>
                              <p:tgtEl>
                                <p:spTgt spid="2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1" dur="500"/>
                              <p:tgtEl>
                                <p:spTgt spid="2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4" dur="500"/>
                              <p:tgtEl>
                                <p:spTgt spid="2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77" dur="500"/>
                              <p:tgtEl>
                                <p:spTgt spid="2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7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0" dur="500"/>
                              <p:tgtEl>
                                <p:spTgt spid="2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3" dur="500"/>
                              <p:tgtEl>
                                <p:spTgt spid="2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6" dur="500"/>
                              <p:tgtEl>
                                <p:spTgt spid="3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8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8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9" dur="500"/>
                              <p:tgtEl>
                                <p:spTgt spid="3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2" dur="500"/>
                              <p:tgtEl>
                                <p:spTgt spid="3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5" dur="500"/>
                              <p:tgtEl>
                                <p:spTgt spid="5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9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98" dur="500"/>
                              <p:tgtEl>
                                <p:spTgt spid="5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01" dur="500"/>
                              <p:tgtEl>
                                <p:spTgt spid="5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0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04" dur="500"/>
                              <p:tgtEl>
                                <p:spTgt spid="5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0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07" dur="500"/>
                              <p:tgtEl>
                                <p:spTgt spid="6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0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0" dur="500"/>
                              <p:tgtEl>
                                <p:spTgt spid="6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1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1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3" dur="500"/>
                              <p:tgtEl>
                                <p:spTgt spid="6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1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1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6" dur="500"/>
                              <p:tgtEl>
                                <p:spTgt spid="6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1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1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9" dur="500"/>
                              <p:tgtEl>
                                <p:spTgt spid="6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2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22" dur="500"/>
                              <p:tgtEl>
                                <p:spTgt spid="6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25" dur="500"/>
                              <p:tgtEl>
                                <p:spTgt spid="6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1097279"/>
            <a:ext cx="4480560" cy="4480560"/>
          </a:xfrm>
          <a:prstGeom prst="ellipse">
            <a:avLst/>
          </a:prstGeom>
          <a:noFill/>
          <a:ln w="12700"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1645919"/>
            <a:ext cx="3383280" cy="3383280"/>
          </a:xfrm>
          <a:prstGeom prst="ellipse">
            <a:avLst/>
          </a:prstGeom>
          <a:noFill/>
          <a:ln w="12700"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2194560"/>
            <a:ext cx="2286000" cy="2286000"/>
          </a:xfrm>
          <a:prstGeom prst="ellipse">
            <a:avLst/>
          </a:prstGeom>
          <a:noFill/>
          <a:ln w="12700"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82712" y="2770632"/>
            <a:ext cx="128016" cy="128016"/>
          </a:xfrm>
          <a:prstGeom prst="ellipse">
            <a:avLst/>
          </a:prstGeom>
          <a:solidFill>
            <a:srgbClr val="3ADAE6"/>
          </a:solidFill>
          <a:ln>
            <a:solidFill>
              <a:srgbClr val="3A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8592" y="3867911"/>
            <a:ext cx="128016" cy="128016"/>
          </a:xfrm>
          <a:prstGeom prst="ellipse">
            <a:avLst/>
          </a:prstGeom>
          <a:solidFill>
            <a:srgbClr val="68EFBF"/>
          </a:solidFill>
          <a:ln>
            <a:solidFill>
              <a:srgbClr val="68E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94192" y="4142231"/>
            <a:ext cx="128016" cy="128016"/>
          </a:xfrm>
          <a:prstGeom prst="ellipse">
            <a:avLst/>
          </a:prstGeom>
          <a:solidFill>
            <a:srgbClr val="FFB55C"/>
          </a:solidFill>
          <a:ln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3657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ADAE6"/>
                </a:solidFill>
                <a:latin typeface="Aptos"/>
              </a:rPr>
              <a:t>AIRWEAVE  / 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212080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500" b="1">
                <a:solidFill>
                  <a:srgbClr val="F0F7FF"/>
                </a:solidFill>
                <a:latin typeface="Aptos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52120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68EFBF"/>
                </a:solidFill>
                <a:latin typeface="Aptos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03320"/>
            <a:ext cx="493776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A4B7CD"/>
                </a:solidFill>
                <a:latin typeface="Aptos"/>
              </a:rPr>
              <a:t>A shared picture should be useful —
and honest about what it cannot know.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0"/>
            <a:ext cx="2926080" cy="502920"/>
          </a:xfrm>
          <a:prstGeom prst="roundRect">
            <a:avLst/>
          </a:prstGeom>
          <a:solidFill>
            <a:srgbClr val="172A45"/>
          </a:solidFill>
          <a:ln>
            <a:solidFill>
              <a:srgbClr val="17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175504"/>
            <a:ext cx="2560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0F7FF"/>
                </a:solidFill>
                <a:latin typeface="Aptos"/>
              </a:rPr>
              <a:t>HOSSAM ELSHAHABY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492240"/>
            <a:ext cx="49377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4B7CD"/>
                </a:solidFill>
                <a:latin typeface="Aptos"/>
              </a:rPr>
              <a:t>AIRWEAVE • SYNTHETIC-DATA DEMONSTRATOR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A4B7CD"/>
                </a:solidFill>
                <a:latin typeface="Aptos"/>
              </a:rPr>
              <a:t>06 / 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5" dur="500"/>
                              <p:tgtEl>
                                <p:spTgt spid="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8" dur="500"/>
                              <p:tgtEl>
                                <p:spTgt spid="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1" dur="500"/>
                              <p:tgtEl>
                                <p:spTgt spid="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4" dur="500"/>
                              <p:tgtEl>
                                <p:spTgt spid="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5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17" dur="500"/>
                              <p:tgtEl>
                                <p:spTgt spid="6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18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19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0" dur="500"/>
                              <p:tgtEl>
                                <p:spTgt spid="7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1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3" dur="500"/>
                              <p:tgtEl>
                                <p:spTgt spid="8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4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5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6" dur="500"/>
                              <p:tgtEl>
                                <p:spTgt spid="9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27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29" dur="500"/>
                              <p:tgtEl>
                                <p:spTgt spid="10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0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1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2" dur="500"/>
                              <p:tgtEl>
                                <p:spTgt spid="11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3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5" dur="500"/>
                              <p:tgtEl>
                                <p:spTgt spid="12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6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37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38" dur="500"/>
                              <p:tgtEl>
                                <p:spTgt spid="13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39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0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1" dur="500"/>
                              <p:tgtEl>
                                <p:spTgt spid="14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  <p:par>
                    <p:cTn id="42" fill="hold" evtFilter="cancel" nodeType="clickEffect">
                      <p:stCondLst>
                        <p:cond evt="onBegin" delay="0"/>
                      </p:stCondLst>
                      <p:childTnLst>
                        <p:par>
                          <p:cTn id="43" presetID="10" presetClass="entr" presetSubtype="0" fill="hold" grpId="0" nodeType="withEffect">
                            <p:childTnLst/>
                          </p:cTn>
                          <p:animEffect transition="in" filter="fade">
                            <p:cBhvr>
                              <p:cTn id="44" dur="500"/>
                              <p:tgtEl>
                                <p:spTgt spid="15"/>
                              </p:tgtEl>
                              <p:attrNameLst>
                                <p:attrName>style.visibility</p:attrName>
                              </p:attrNameLst>
                            </p:cBhvr>
                          </p:animEffect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